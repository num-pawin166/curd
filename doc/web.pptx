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2C609C-D12F-435F-A781-3DE4CA3D16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6BBF7D9-48BD-4253-924F-FEE186B31D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51714A8-41FE-47B5-B203-2F60697482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48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0961DD-7DB2-4D98-BF00-78A26E4982D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248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D74D2F-ED61-4520-99EA-6E1FB1DCE71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248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7067DF-7F70-43B4-81CD-98F5CCF420D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57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WEB SOFTWARE DEVELOPMENT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hi-IN" sz="4000" spc="-1" strike="noStrike">
                <a:solidFill>
                  <a:srgbClr val="000000"/>
                </a:solidFill>
                <a:latin typeface="Arial"/>
              </a:rPr>
              <a:t>รศ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hi-IN" sz="4000" spc="-1" strike="noStrike">
                <a:solidFill>
                  <a:srgbClr val="000000"/>
                </a:solidFill>
                <a:latin typeface="Arial"/>
              </a:rPr>
              <a:t>ดร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hi-IN" sz="4000" spc="-1" strike="noStrike">
                <a:solidFill>
                  <a:srgbClr val="000000"/>
                </a:solidFill>
                <a:latin typeface="Arial"/>
              </a:rPr>
              <a:t>วรวิทย์ สมหา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Example Product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IoT Design (Plate form)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IoT (Internet of Things)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หรือ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"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อินเทอร์เน็ตในทุกสิ่ง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"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คือเครือข่ายที่เชื่อมต่อ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"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สิ่งของ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"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หรืออุปกรณ์ต่างๆ เข้ากับอินเทอร์เน็ตเพื่อให้สามารถแลกเปลี่ยนข้อมูลและทำงานร่วมกันได้โดยอัตโนมัติ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IoT </a:t>
            </a: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ทำงานโดยมีองค์ประกอบหลัก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3 </a:t>
            </a: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ส่วน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อุปกรณ์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(Devices)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เช่น เซ็นเซอร์วัดอุณหภูมิ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กล้อง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การเชื่อมต่อ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(Connectivity)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การเชื่อมต่อข้อมูลผ่านอินเทอร์เน็ต เพื่อส่งข้อมูลที่รวบรวมได้ไปยังระบบ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คลาวด์และซอฟต์แวร์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(Cloud &amp; Software)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แพลตฟอร์มคลาวด์ที่ประมวลผลข้อมูล ควบคุม และวิเคราะห์ข้อมูล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ตัวอย่างการใช้งาน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66" lnSpcReduction="10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บ้านอัจฉริยะ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(Smart Home)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การควบคุมไฟ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เครื่องปรับอากาศ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กลอนประตู ผ่านแอปพลิเคชัน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อุปกรณ์สวมใส่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(Wearable)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สมาร์ทวอทช์ที่ติดตามสุขภาพและส่งข้อมูลให้แอป ยานยนต์อัจฉริยะ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(Smart Vehicles)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รถยนต์ที่แจ้งเตือนความเสี่ยงหรือจัดการเส้นทางอัตโนมัติ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อุตสาหกรรม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(Industrial IoT - IIoT)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การตรวจสอบเครื่องจักรในโรงงานเพื่อป้องกันการเสีย หรือการจัดการคลังสินค้า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IIoT </a:t>
            </a: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กับ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IoT </a:t>
            </a: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ต่างกันอย่างไร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IIoT Industrial Internet Of Things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เป็นส่วนหนึ่งหรือส่วนย่อยของ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IoT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โดย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IIoT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ถูกใช้ในงานอุตสาหกรรมโดยเฉพาะ เพื่อเพิ่มประสิทธิภาพและประสิทธิผลในการผลิต  แต่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IoT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ถูกใช้เพื่อทำให้ผู้บริโภค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(Consumer)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ใช้ชีวิตได้สะดวกและง่ายขึ้น ซึ่งข้อแตกต่างหลักๆระหว่าง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IIoT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และ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IoT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ที่จะพูดถึงมี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3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ประเด็น คือ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Things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ที่เชื่อมต่อเข้ากับอินเทอร์เน็ต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ประเภทอุปกรณ์ที่ใช้ และจุดประสงค์การใช้งาน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ref: https://www.appomax.ai/resources/iiot-vs-iot-differences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Things </a:t>
            </a: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สำหรับ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IoT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29408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Things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หรืออุปกรณ์อิเล็กทรอนิกส์ๆ ที่เชื่อมต่อ ใน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IoT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นั้นเราจะนึกถึง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Consumer Base,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บ้านอัจฉริยะ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(Smart Home)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เป็นการควบคุมอุปกรณ์ต่างๆภายในบ้าน เพื่ออำนวยความสะดวก หรือ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Wearable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เช่น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Smart Watch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เป็นต้น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5283720" y="1371600"/>
            <a:ext cx="4086360" cy="319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Things </a:t>
            </a: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สำหรับ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IIoT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29408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333" lnSpcReduction="10000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ส่วน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Things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หรืออุปกรณ์อิเล็กทรอนิกส์ๆ ที่เชื่อมต่อ ใน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IIoT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นั้นเราจะนึกถึง เครื่องจักรต่างๆ ซึ่งมีองค์ประกอบเป็น เซ็นเซอร์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(Sensor),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มิเตอร์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(Meter), Actuators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และ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Controller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5257800" y="1371600"/>
            <a:ext cx="4112280" cy="342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อุปกรณ์ที่ใช้สำหรับ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IoT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89428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66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ใช้อุปกรณ์ที่พลังงานต่ำ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มีการเชื่อมต่อหรือการสื่อสารที่หลากหลาย เช่น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Zigbee, LoRaWAN (Long Range Wide Area Network)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เป็นต้น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เน้นสินค้าที่ราคาถูก และมีความยืดยุ่น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(Flexible)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ใช้งานได้หลายประเภท โดย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Embedded System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ที่เป็นที่นิยม อาทิเช่น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Raspberry Pi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หรือ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Arduino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6762960" y="1733760"/>
            <a:ext cx="2378520" cy="237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อุปกรณ์ที่ใช้สำหรับ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IIoT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 lnSpcReduction="10000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จะเน้นอุปกรณ์ที่มีความ ทนทาน อย่างน้อยทนอุณหภูมิได้มากว่า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50°C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ซึ่งจะเป็นอุปกรณ์เกรดอุตสาหกรรม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(Industrial Grade)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จะเห็นการนำ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Raspberry Pi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หรือ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Arduino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แบบ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Industrial Grade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มาใช้ในงานอุตสาหกรรม เพื่อให้สามารถทนสภาพแวดล้อมของอุตสาหกรรมได้ และมีการทดสอบมาตรฐานสำหรับอุตสาหกรรมอีกด้วย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ความเสถียร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(Stable),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ความปลอดภัย ซึ่งถือเป็นสิ่งสำคัญสำหรับ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IIoT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การเชื่อมต่อที่เชื่อถือได้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(Reliable Connection)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เพราะการเชื่อต่อนั้นสำคัญมาก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อุปกรณ์ที่ใช้สำหรับ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IIoT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2848680" y="1326600"/>
            <a:ext cx="4379400" cy="328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จุดประสงค์การใช้งาน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สำหรับ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IoT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นั้นเพื่อทำให้ผู้บริโภค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(Consumer)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ใช้ชีวิตได้สะดวกสบาย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ง่ายขึ้น และเพื่อสุขภาพ แต่สำหรับ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IIoT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เพื่อเพิ่มประสิทธิภาพและประสิทธิผลในการผลิต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Full Stack Developer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hi-IN" sz="2600" spc="-1" strike="noStrike">
                <a:solidFill>
                  <a:srgbClr val="000000"/>
                </a:solidFill>
                <a:latin typeface="Arial"/>
              </a:rPr>
              <a:t>นักพัฒนาซอฟต์แวร์ที่เชี่ยวชาญทั้งระบบ หน้าบ้าน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(Front-end) </a:t>
            </a:r>
            <a:r>
              <a:rPr b="0" lang="hi-IN" sz="2600" spc="-1" strike="noStrike">
                <a:solidFill>
                  <a:srgbClr val="000000"/>
                </a:solidFill>
                <a:latin typeface="Arial"/>
              </a:rPr>
              <a:t>ส่วนที่ผู้ใช้เห็นและโต้ตอบได้ เช่น หน้าตาเว็บ และ หลังบ้าน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(Back-end) </a:t>
            </a:r>
            <a:r>
              <a:rPr b="0" lang="hi-IN" sz="2600" spc="-1" strike="noStrike">
                <a:solidFill>
                  <a:srgbClr val="000000"/>
                </a:solidFill>
                <a:latin typeface="Arial"/>
              </a:rPr>
              <a:t>ระบบจัดการข้อมูล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600" spc="-1" strike="noStrike">
                <a:solidFill>
                  <a:srgbClr val="000000"/>
                </a:solidFill>
                <a:latin typeface="Arial"/>
              </a:rPr>
              <a:t>เซิร์ฟเวอร์ ทำให้สามารถสร้างและดูแลเว็บไซต์หรือแอปพลิเคชันได้ตั้งแต่ต้นจนจบด้วยตัวเอง เป็นเหมือนคนกลางที่เชื่อมโยงทั้งสองส่วนเข้าด้วยกันให้ทำงานราบรื่น มีความเข้าใจภาพรวมระบบทั้งหมด และเป็นที่ต้องการอย่างมากในบริษัทเทคโนโลยี โดยเฉพาะสตาร์ทอัพ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หน้าที่และความรับผิดชอบ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Front-end Development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</a:rPr>
              <a:t>สร้างส่วนติดต่อผู้ใช้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(UI)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</a:rPr>
              <a:t>ด้วย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HTML, CSS, JavaScript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</a:rPr>
              <a:t>และเฟรมเวิร์กต่างๆ เช่น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React, Vue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Back-end Development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</a:rPr>
              <a:t>จัดการตรรกะของเซิร์ฟเวอร์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, API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</a:rPr>
              <a:t>และฐานข้อมูล เช่น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Node.js, Python, MySQL, MongoDB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Database Management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</a:rPr>
              <a:t>ออกแบบและดูแลระบบฐานข้อมูลเพื่อเก็บข้อมูล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Integration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</a:rPr>
              <a:t>เชื่อมโยงส่วน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Front-end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</a:rPr>
              <a:t>และ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Back-end </a:t>
            </a:r>
            <a:r>
              <a:rPr b="0" lang="hi-IN" sz="3200" spc="-1" strike="noStrike">
                <a:solidFill>
                  <a:srgbClr val="000000"/>
                </a:solidFill>
                <a:latin typeface="Arial"/>
              </a:rPr>
              <a:t>เข้าด้วยกันให้ทำงานร่วมกันได้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Monolithic vs Microservices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Monolithic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คือ การสร้างแอปพลิเคชันแบบรวมทุกฟังก์ชันไว้ในก้อนเดียว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เหมือนก้อนหินใหญ่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ใช้ฐานข้อมูลเดียว แต่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Microservices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คือ การแยกฟังก์ชันเหล่านั้นออกเป็นส่วนย่อยๆ ที่ทำงานอิสระจากกัน มีฐานข้อมูลของตัวเอง และสื่อสารกันผ่าน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API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ทำให้ปรับขนาด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(Scale)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และพัฒนาแต่ละส่วนได้ง่ายกว่า เหมาะกับระบบใหญ่ๆ ในขณะที่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Monolithic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เหมาะกับระบบเล็ก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/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กลาง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Monolithic vs Microservices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898280" y="1326240"/>
            <a:ext cx="6280560" cy="328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Monolithic Architecture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ลักษณะคือ โค้ดทั้งหมดทำงานอยู่ภายในแอปพลิเคชันเดียว ทุกฟังก์ชัน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เช่น จัดการผู้ใช้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ตะกร้าสินค้า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รวมกัน และใช้ฐานข้อมูลเดียวกัน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ข้อดีคือ พัฒนาช่วงแรกง่าย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ไม่ซับซ้อน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ข้อเสียคือ ปรับขนาดยาก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ต้องขยายทั้งระบบ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),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แก้ไขส่วนเล็กๆ อาจกระทบทั้งระบบ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Deploy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ยากเมื่อระบบใหญ่ขึ้น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เหมาะกับระบบขนาดเล็กถึงกลาง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Microservices Architecture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ลักษณะคือ แยกฟังก์ชันเป็นบริการย่อยๆ หลายตัว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เช่น บริการผู้ใช้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บริการสินค้า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บริการชำระเงิน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แต่ละบริการมีฐานข้อมูลและโค้ดของตัวเอง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ข้อดีคือ อิสระ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ยืดหยุ่น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ใช้เทคโนโลยีต่างกันได้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ปรับขนาดง่ายขยายเฉพาะส่วนที่จำเป็นได้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ข้อเสียคือ ซับซ้อนตั้งแต่แรกเริ่มในการจัดการ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  <a:cs typeface="Noto Sans Devanagari"/>
              </a:rPr>
              <a:t>เหมาะกับระบบขนาดใหญ่ มีหลายทีมพัฒนา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CRUD Porject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777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Create (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สร้าง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):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การเพิ่มข้อมูลใหม่เข้าไปในระบบ เช่น การสมัครสมาชิกใหม่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การอัปโหลดรูปภาพ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Read (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อ่าน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):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การเรียกดูหรือค้นหาข้อมูลที่มีอยู่แล้ว เช่น การดูโปรไฟล์ผู้ใช้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การค้นหาผลิตภัณฑ์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Update (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อัปเดต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):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การแก้ไขข้อมูลที่มีอยู่เดิม เช่น การเปลี่ยนรหัสผ่าน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การแก้ไขข้อมูลโปรไฟล์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Delete (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ลบ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):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การลบข้อมูลที่ไม่ต้องการออกจากระบบ เช่น การลบโพสต์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การปิดบัญชีผู้ใช้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3600" spc="-1" strike="noStrike">
                <a:solidFill>
                  <a:srgbClr val="000000"/>
                </a:solidFill>
                <a:latin typeface="Arial"/>
              </a:rPr>
              <a:t>ความสำคัญของ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CRUD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777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เป็นมาตรฐาน ทำให้การออกแบบและพัฒนาแอปพลิเคชันมีแนวทางที่ชัดเจนและเป็นสากล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ง่ายต่อการเรียนรู้ นักพัฒนาเข้าใจได้ง่าย และช่วยให้เริ่มต้นสร้างแอปพลิเคชันจัดการข้อมูลได้เร็วขึ้น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บำรุงรักษาง่าย โครงสร้างที่แบ่งเป็นส่วนๆ ทำให้ง่ายต่อการแก้ไขและอัปเดต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ปรับปรุงประสบการณ์ผู้ใช้ ผู้ใช้สามารถโต้ตอบกับข้อมูลได้อย่างครบถ้วน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เพิ่ม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ดู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แก้ไข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ลบ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) </a:t>
            </a:r>
            <a:r>
              <a:rPr b="0" lang="hi-IN" sz="2800" spc="-1" strike="noStrike">
                <a:solidFill>
                  <a:srgbClr val="000000"/>
                </a:solidFill>
                <a:latin typeface="Arial"/>
              </a:rPr>
              <a:t>ผ่านอินเทอร์เฟซที่ใช้งานง่าย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Structure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457200" y="2743200"/>
            <a:ext cx="3886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>
            <a:off x="457200" y="914400"/>
            <a:ext cx="116964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Front-end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54680" y="2971800"/>
            <a:ext cx="114372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Back-end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200400" y="3429000"/>
            <a:ext cx="912600" cy="455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143000" y="1600200"/>
            <a:ext cx="912600" cy="455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React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914400" y="3429000"/>
            <a:ext cx="912600" cy="455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371600" y="38862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757800" y="4983480"/>
            <a:ext cx="11314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Mongodb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828800" y="3657600"/>
            <a:ext cx="13716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"/>
          <p:cNvSpPr/>
          <p:nvPr/>
        </p:nvSpPr>
        <p:spPr>
          <a:xfrm>
            <a:off x="3200400" y="1600200"/>
            <a:ext cx="912600" cy="455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build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657600" y="2057400"/>
            <a:ext cx="360" cy="136872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2057400" y="1538640"/>
            <a:ext cx="103068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Production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" name=""/>
          <p:cNvCxnSpPr>
            <a:stCxn id="62" idx="3"/>
            <a:endCxn id="67" idx="1"/>
          </p:cNvCxnSpPr>
          <p:nvPr/>
        </p:nvCxnSpPr>
        <p:spPr>
          <a:xfrm>
            <a:off x="2055600" y="1827720"/>
            <a:ext cx="1145160" cy="36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71" name=""/>
          <p:cNvSpPr/>
          <p:nvPr/>
        </p:nvSpPr>
        <p:spPr>
          <a:xfrm>
            <a:off x="1969560" y="2286000"/>
            <a:ext cx="122904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Development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" name=""/>
          <p:cNvCxnSpPr>
            <a:stCxn id="62" idx="2"/>
            <a:endCxn id="61" idx="-1"/>
          </p:cNvCxnSpPr>
          <p:nvPr/>
        </p:nvCxnSpPr>
        <p:spPr>
          <a:xfrm flipH="1" rot="16200000">
            <a:off x="1941120" y="1713240"/>
            <a:ext cx="1373760" cy="2057760"/>
          </a:xfrm>
          <a:prstGeom prst="curvedConnector3">
            <a:avLst>
              <a:gd name="adj1" fmla="val 25032"/>
            </a:avLst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</p:cxnSp>
      <p:sp>
        <p:nvSpPr>
          <p:cNvPr id="73" name=""/>
          <p:cNvSpPr/>
          <p:nvPr/>
        </p:nvSpPr>
        <p:spPr>
          <a:xfrm>
            <a:off x="5029560" y="2286000"/>
            <a:ext cx="1827000" cy="114120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network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4" name=""/>
          <p:cNvCxnSpPr>
            <a:stCxn id="61" idx="3"/>
            <a:endCxn id="73" idx="1"/>
          </p:cNvCxnSpPr>
          <p:nvPr/>
        </p:nvCxnSpPr>
        <p:spPr>
          <a:xfrm flipV="1">
            <a:off x="4113000" y="2453040"/>
            <a:ext cx="1184400" cy="1203840"/>
          </a:xfrm>
          <a:prstGeom prst="curvedConnector4">
            <a:avLst>
              <a:gd name="adj1" fmla="val 48373"/>
              <a:gd name="adj2" fmla="val 129823"/>
            </a:avLst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</p:cxnSp>
      <p:sp>
        <p:nvSpPr>
          <p:cNvPr id="75" name=""/>
          <p:cNvSpPr/>
          <p:nvPr/>
        </p:nvSpPr>
        <p:spPr>
          <a:xfrm>
            <a:off x="8001000" y="1600200"/>
            <a:ext cx="1141200" cy="455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Computer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6" name=""/>
          <p:cNvCxnSpPr>
            <a:stCxn id="73" idx="7"/>
            <a:endCxn id="75" idx="1"/>
          </p:cNvCxnSpPr>
          <p:nvPr/>
        </p:nvCxnSpPr>
        <p:spPr>
          <a:xfrm flipH="1" flipV="1" rot="5400000">
            <a:off x="6982200" y="1434240"/>
            <a:ext cx="625680" cy="1412280"/>
          </a:xfrm>
          <a:prstGeom prst="curvedConnector2">
            <a:avLst/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</p:cxnSp>
      <p:sp>
        <p:nvSpPr>
          <p:cNvPr id="77" name=""/>
          <p:cNvSpPr/>
          <p:nvPr/>
        </p:nvSpPr>
        <p:spPr>
          <a:xfrm>
            <a:off x="8001000" y="3429000"/>
            <a:ext cx="1141200" cy="455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Computer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8" name=""/>
          <p:cNvCxnSpPr>
            <a:stCxn id="73" idx="5"/>
            <a:endCxn id="77" idx="1"/>
          </p:cNvCxnSpPr>
          <p:nvPr/>
        </p:nvCxnSpPr>
        <p:spPr>
          <a:xfrm flipH="1" rot="16200000">
            <a:off x="7097040" y="2752200"/>
            <a:ext cx="396720" cy="1412280"/>
          </a:xfrm>
          <a:prstGeom prst="curvedConnector2">
            <a:avLst/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</p:cxnSp>
      <p:sp>
        <p:nvSpPr>
          <p:cNvPr id="79" name=""/>
          <p:cNvSpPr/>
          <p:nvPr/>
        </p:nvSpPr>
        <p:spPr>
          <a:xfrm>
            <a:off x="8001000" y="2514600"/>
            <a:ext cx="1141200" cy="5086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Computer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" name=""/>
          <p:cNvCxnSpPr>
            <a:stCxn id="73" idx="6"/>
            <a:endCxn id="79" idx="1"/>
          </p:cNvCxnSpPr>
          <p:nvPr/>
        </p:nvCxnSpPr>
        <p:spPr>
          <a:xfrm flipV="1">
            <a:off x="6856560" y="2768760"/>
            <a:ext cx="1144800" cy="88200"/>
          </a:xfrm>
          <a:prstGeom prst="curvedConnector3">
            <a:avLst>
              <a:gd name="adj1" fmla="val 25039"/>
            </a:avLst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</p:cxnSp>
      <p:sp>
        <p:nvSpPr>
          <p:cNvPr id="81" name=""/>
          <p:cNvSpPr/>
          <p:nvPr/>
        </p:nvSpPr>
        <p:spPr>
          <a:xfrm>
            <a:off x="2286000" y="3260880"/>
            <a:ext cx="54324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gRPC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Preparation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Install nodejs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Download Mongodb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Download CRUD Example source code 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git clone https://github.com/ajbear/crud.git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120" cy="94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2025-12-21T11:36:20Z</dcterms:created>
  <dc:creator/>
  <dc:description/>
  <dc:language>en-US</dc:language>
  <cp:lastModifiedBy/>
  <dcterms:modified xsi:type="dcterms:W3CDTF">2026-02-09T08:05:30Z</dcterms:modified>
  <cp:revision>37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